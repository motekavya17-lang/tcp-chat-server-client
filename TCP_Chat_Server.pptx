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432788f-8752-85b9-41f1-545f42f2c051}">
          <p14:sldIdLst>
            <p14:sldId id="256"/>
            <p14:sldId id="257"/>
          </p14:sldIdLst>
        </p14:section>
        <p14:section name="Design" id="{6c5df3af-4f53-cf45-1f3c-9e3b41ab976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Build and Test" id="{03365ee7-129f-f7cc-fd31-f5970207d4de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chat server in C that serves many clients at once in a single process, using I/O multiplexing instead of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goals: usernames, broadcast messaging, and handling many clients concurrently.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clients connect over TCP to one listening socket. The server keeps a table mapping each file descriptor to a username and an input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side: socket, setsockopt, bind, listen, accept. Client side: socket, connect, then send and recv. In our design accept() is only called when the multiplexer says the listening socket is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thread or process per client is easy to write but needs locking around the client list. An event loop asks the kernel which sockets are ready and handles only those.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is portable and fine for learning but limited to 1024 descriptors and scans linearly. epoll is Linux-specific and only reports ready descriptors.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server is this loop. Block in select until something is ready, then walk the descriptors: new connection on the listener, data on a client socket, or a disconnect.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line a client sends is its username. After that, every complete line is prefixed with the sender's name and written to all other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GCC builds the server, netcat gives instant test clients, Wireshark shows the actual TCP segments, and ss shows listening and established sockets.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issues cause most chat-server bugs. The key insight is that TCP preserves order but not message boundaries, so framing is our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multiplexing, framing, and testing with real tools. Mention epoll and rooms as natural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TCP Chat Server and Client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multi-client chat server in C using sockets and I/O multiplexing</a:t>
            </a:r>
            <a:endParaRPr lang="en-US" sz="1800" dirty="0"/>
          </a:p>
        </p:txBody>
      </p:sp>
      <p:sp>
        <p:nvSpPr>
          <p:cNvPr id="4" name="Keyword chip sockets"/>
          <p:cNvSpPr/>
          <p:nvPr/>
        </p:nvSpPr>
        <p:spPr>
          <a:xfrm>
            <a:off x="548640" y="3840480"/>
            <a:ext cx="118872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Keyword text sockets"/>
          <p:cNvSpPr txBox="1"/>
          <p:nvPr/>
        </p:nvSpPr>
        <p:spPr>
          <a:xfrm>
            <a:off x="54864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sockets</a:t>
            </a:r>
            <a:endParaRPr lang="en-US" sz="1400" dirty="0"/>
          </a:p>
        </p:txBody>
      </p:sp>
      <p:sp>
        <p:nvSpPr>
          <p:cNvPr id="6" name="Keyword chip select / epoll"/>
          <p:cNvSpPr/>
          <p:nvPr/>
        </p:nvSpPr>
        <p:spPr>
          <a:xfrm>
            <a:off x="1920240" y="3840480"/>
            <a:ext cx="173736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Keyword text select / epoll"/>
          <p:cNvSpPr txBox="1"/>
          <p:nvPr/>
        </p:nvSpPr>
        <p:spPr>
          <a:xfrm>
            <a:off x="1920240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/ epoll</a:t>
            </a:r>
            <a:endParaRPr lang="en-US" sz="1400" dirty="0"/>
          </a:p>
        </p:txBody>
      </p:sp>
      <p:sp>
        <p:nvSpPr>
          <p:cNvPr id="8" name="Keyword chip client-server"/>
          <p:cNvSpPr/>
          <p:nvPr/>
        </p:nvSpPr>
        <p:spPr>
          <a:xfrm>
            <a:off x="3840480" y="3840480"/>
            <a:ext cx="173736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Keyword text client-server"/>
          <p:cNvSpPr txBox="1"/>
          <p:nvPr/>
        </p:nvSpPr>
        <p:spPr>
          <a:xfrm>
            <a:off x="3840480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client-server</a:t>
            </a:r>
            <a:endParaRPr lang="en-US" sz="1400" dirty="0"/>
          </a:p>
        </p:txBody>
      </p:sp>
      <p:sp>
        <p:nvSpPr>
          <p:cNvPr id="10" name="Keyword chip concurrency"/>
          <p:cNvSpPr/>
          <p:nvPr/>
        </p:nvSpPr>
        <p:spPr>
          <a:xfrm>
            <a:off x="5760720" y="3840480"/>
            <a:ext cx="1554480" cy="411480"/>
          </a:xfrm>
          <a:prstGeom prst="roundRect">
            <a:avLst>
              <a:gd name="adj" fmla="val 4888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Keyword text concurrency"/>
          <p:cNvSpPr txBox="1"/>
          <p:nvPr/>
        </p:nvSpPr>
        <p:spPr>
          <a:xfrm>
            <a:off x="576072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concurrency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we're building</a:t>
            </a:r>
            <a:endParaRPr lang="en-US" sz="3600" dirty="0"/>
          </a:p>
        </p:txBody>
      </p:sp>
      <p:sp>
        <p:nvSpPr>
          <p:cNvPr id="3" name="Card Usernames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sernames circle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Usernames icon" descr="Userna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" cy="365760"/>
          </a:xfrm>
          <a:prstGeom prst="rect">
            <a:avLst/>
          </a:prstGeom>
        </p:spPr>
      </p:pic>
      <p:sp>
        <p:nvSpPr>
          <p:cNvPr id="6" name="Card title 1"/>
          <p:cNvSpPr txBox="1"/>
          <p:nvPr/>
        </p:nvSpPr>
        <p:spPr>
          <a:xfrm>
            <a:off x="7315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Usernames</a:t>
            </a:r>
            <a:endParaRPr lang="en-US" sz="20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3017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client picks a unique name when it connects.</a:t>
            </a:r>
            <a:endParaRPr lang="en-US" sz="1400" dirty="0"/>
          </a:p>
        </p:txBody>
      </p:sp>
      <p:sp>
        <p:nvSpPr>
          <p:cNvPr id="8" name="Card Broadcast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roadcast circle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Broadcast icon" descr="Broadca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28800"/>
            <a:ext cx="365760" cy="365760"/>
          </a:xfrm>
          <a:prstGeom prst="rect">
            <a:avLst/>
          </a:prstGeom>
        </p:spPr>
      </p:pic>
      <p:sp>
        <p:nvSpPr>
          <p:cNvPr id="11" name="Card title 2"/>
          <p:cNvSpPr txBox="1"/>
          <p:nvPr/>
        </p:nvSpPr>
        <p:spPr>
          <a:xfrm>
            <a:off x="356616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Broadcast</a:t>
            </a:r>
            <a:endParaRPr lang="en-US" sz="2000" dirty="0"/>
          </a:p>
        </p:txBody>
      </p:sp>
      <p:sp>
        <p:nvSpPr>
          <p:cNvPr id="12" name="Card body 2"/>
          <p:cNvSpPr txBox="1"/>
          <p:nvPr/>
        </p:nvSpPr>
        <p:spPr>
          <a:xfrm>
            <a:off x="3566160" y="3017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message reaches all other connected clients.</a:t>
            </a:r>
            <a:endParaRPr lang="en-US" sz="1400" dirty="0"/>
          </a:p>
        </p:txBody>
      </p:sp>
      <p:sp>
        <p:nvSpPr>
          <p:cNvPr id="13" name="Card Concurrency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ncurrency circle"/>
          <p:cNvSpPr/>
          <p:nvPr/>
        </p:nvSpPr>
        <p:spPr>
          <a:xfrm>
            <a:off x="640080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oncurrency icon" descr="Concurrenc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365760" cy="365760"/>
          </a:xfrm>
          <a:prstGeom prst="rect">
            <a:avLst/>
          </a:prstGeom>
        </p:spPr>
      </p:pic>
      <p:sp>
        <p:nvSpPr>
          <p:cNvPr id="16" name="Card title 3"/>
          <p:cNvSpPr txBox="1"/>
          <p:nvPr/>
        </p:nvSpPr>
        <p:spPr>
          <a:xfrm>
            <a:off x="64008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Concurrency</a:t>
            </a:r>
            <a:endParaRPr lang="en-US" sz="2000" dirty="0"/>
          </a:p>
        </p:txBody>
      </p:sp>
      <p:sp>
        <p:nvSpPr>
          <p:cNvPr id="17" name="Card body 3"/>
          <p:cNvSpPr txBox="1"/>
          <p:nvPr/>
        </p:nvSpPr>
        <p:spPr>
          <a:xfrm>
            <a:off x="6400800" y="3017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process serves many clients with no threads.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Client–server architecture</a:t>
            </a:r>
            <a:endParaRPr lang="en-US" sz="3600" dirty="0"/>
          </a:p>
        </p:txBody>
      </p:sp>
      <p:sp>
        <p:nvSpPr>
          <p:cNvPr id="3" name="Client A box"/>
          <p:cNvSpPr/>
          <p:nvPr/>
        </p:nvSpPr>
        <p:spPr>
          <a:xfrm>
            <a:off x="457200" y="150876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Client A label"/>
          <p:cNvSpPr txBox="1"/>
          <p:nvPr/>
        </p:nvSpPr>
        <p:spPr>
          <a:xfrm>
            <a:off x="457200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 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nc or chat client</a:t>
            </a:r>
            <a:endParaRPr lang="en-US" sz="1600" dirty="0"/>
          </a:p>
        </p:txBody>
      </p:sp>
      <p:sp>
        <p:nvSpPr>
          <p:cNvPr id="5" name="Client A link"/>
          <p:cNvSpPr/>
          <p:nvPr/>
        </p:nvSpPr>
        <p:spPr>
          <a:xfrm>
            <a:off x="2651760" y="1920240"/>
            <a:ext cx="16459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6" name="Client B box"/>
          <p:cNvSpPr/>
          <p:nvPr/>
        </p:nvSpPr>
        <p:spPr>
          <a:xfrm>
            <a:off x="457200" y="242316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Client B label"/>
          <p:cNvSpPr txBox="1"/>
          <p:nvPr/>
        </p:nvSpPr>
        <p:spPr>
          <a:xfrm>
            <a:off x="45720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 B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nc or chat client</a:t>
            </a:r>
            <a:endParaRPr lang="en-US" sz="1600" dirty="0"/>
          </a:p>
        </p:txBody>
      </p:sp>
      <p:sp>
        <p:nvSpPr>
          <p:cNvPr id="8" name="Client B link"/>
          <p:cNvSpPr/>
          <p:nvPr/>
        </p:nvSpPr>
        <p:spPr>
          <a:xfrm>
            <a:off x="2651760" y="2834640"/>
            <a:ext cx="16459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9" name="Client C box"/>
          <p:cNvSpPr/>
          <p:nvPr/>
        </p:nvSpPr>
        <p:spPr>
          <a:xfrm>
            <a:off x="457200" y="333756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Client C label"/>
          <p:cNvSpPr txBox="1"/>
          <p:nvPr/>
        </p:nvSpPr>
        <p:spPr>
          <a:xfrm>
            <a:off x="45720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 C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nc or chat client</a:t>
            </a:r>
            <a:endParaRPr lang="en-US" sz="1600" dirty="0"/>
          </a:p>
        </p:txBody>
      </p:sp>
      <p:sp>
        <p:nvSpPr>
          <p:cNvPr id="11" name="Client C link"/>
          <p:cNvSpPr/>
          <p:nvPr/>
        </p:nvSpPr>
        <p:spPr>
          <a:xfrm>
            <a:off x="2651760" y="3749040"/>
            <a:ext cx="16459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2" name="Server container"/>
          <p:cNvSpPr/>
          <p:nvPr/>
        </p:nvSpPr>
        <p:spPr>
          <a:xfrm>
            <a:off x="4297680" y="1280160"/>
            <a:ext cx="438912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Server part 1"/>
          <p:cNvSpPr/>
          <p:nvPr/>
        </p:nvSpPr>
        <p:spPr>
          <a:xfrm>
            <a:off x="4526280" y="150876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erver part text 1"/>
          <p:cNvSpPr txBox="1"/>
          <p:nvPr/>
        </p:nvSpPr>
        <p:spPr>
          <a:xfrm>
            <a:off x="4709160" y="1508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Listening socket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accept() new connections</a:t>
            </a:r>
            <a:endParaRPr lang="en-US" sz="1600" dirty="0"/>
          </a:p>
        </p:txBody>
      </p:sp>
      <p:sp>
        <p:nvSpPr>
          <p:cNvPr id="15" name="Server part 2"/>
          <p:cNvSpPr/>
          <p:nvPr/>
        </p:nvSpPr>
        <p:spPr>
          <a:xfrm>
            <a:off x="4526280" y="242316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erver part text 2"/>
          <p:cNvSpPr txBox="1"/>
          <p:nvPr/>
        </p:nvSpPr>
        <p:spPr>
          <a:xfrm>
            <a:off x="4709160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I/O multiplexer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select / epoll watches every fd</a:t>
            </a:r>
            <a:endParaRPr lang="en-US" sz="1600" dirty="0"/>
          </a:p>
        </p:txBody>
      </p:sp>
      <p:sp>
        <p:nvSpPr>
          <p:cNvPr id="17" name="Server part 3"/>
          <p:cNvSpPr/>
          <p:nvPr/>
        </p:nvSpPr>
        <p:spPr>
          <a:xfrm>
            <a:off x="4526280" y="333756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Server part text 3"/>
          <p:cNvSpPr txBox="1"/>
          <p:nvPr/>
        </p:nvSpPr>
        <p:spPr>
          <a:xfrm>
            <a:off x="4709160" y="3337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Client table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fd → username, input buffer</a:t>
            </a:r>
            <a:endParaRPr lang="en-US" sz="1600" dirty="0"/>
          </a:p>
        </p:txBody>
      </p:sp>
      <p:sp>
        <p:nvSpPr>
          <p:cNvPr id="19" name="Caption"/>
          <p:cNvSpPr txBox="1"/>
          <p:nvPr/>
        </p:nvSpPr>
        <p:spPr>
          <a:xfrm>
            <a:off x="45720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Many TCP clients, one server process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socket lifecycle</a:t>
            </a:r>
            <a:endParaRPr lang="en-US" sz="3600" dirty="0"/>
          </a:p>
        </p:txBody>
      </p:sp>
      <p:sp>
        <p:nvSpPr>
          <p:cNvPr id="3" name="SERVER header"/>
          <p:cNvSpPr txBox="1"/>
          <p:nvPr/>
        </p:nvSpPr>
        <p:spPr>
          <a:xfrm>
            <a:off x="457200" y="1188720"/>
            <a:ext cx="1280160" cy="29260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SERVER</a:t>
            </a:r>
            <a:endParaRPr lang="en-US" sz="1400" dirty="0"/>
          </a:p>
        </p:txBody>
      </p:sp>
      <p:sp>
        <p:nvSpPr>
          <p:cNvPr id="4" name="SERVER step circle 1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ERVER step number 1"/>
          <p:cNvSpPr txBox="1"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ERVER step text 1"/>
          <p:cNvSpPr txBox="1"/>
          <p:nvPr/>
        </p:nvSpPr>
        <p:spPr>
          <a:xfrm>
            <a:off x="960120" y="1645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Create a TCP socket</a:t>
            </a:r>
            <a:endParaRPr lang="en-US" sz="1500" dirty="0"/>
          </a:p>
        </p:txBody>
      </p:sp>
      <p:sp>
        <p:nvSpPr>
          <p:cNvPr id="7" name="SERVER step circle 2"/>
          <p:cNvSpPr/>
          <p:nvPr/>
        </p:nvSpPr>
        <p:spPr>
          <a:xfrm>
            <a:off x="457200" y="229514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ERVER step number 2"/>
          <p:cNvSpPr txBox="1"/>
          <p:nvPr/>
        </p:nvSpPr>
        <p:spPr>
          <a:xfrm>
            <a:off x="45720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ERVER step text 2"/>
          <p:cNvSpPr txBox="1"/>
          <p:nvPr/>
        </p:nvSpPr>
        <p:spPr>
          <a:xfrm>
            <a:off x="960120" y="22494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setsockopt()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SO_REUSEADDR for fast restarts</a:t>
            </a:r>
            <a:endParaRPr lang="en-US" sz="1500" dirty="0"/>
          </a:p>
        </p:txBody>
      </p:sp>
      <p:sp>
        <p:nvSpPr>
          <p:cNvPr id="10" name="SERVER step circle 3"/>
          <p:cNvSpPr/>
          <p:nvPr/>
        </p:nvSpPr>
        <p:spPr>
          <a:xfrm>
            <a:off x="457200" y="28986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ERVER step number 3"/>
          <p:cNvSpPr txBox="1"/>
          <p:nvPr/>
        </p:nvSpPr>
        <p:spPr>
          <a:xfrm>
            <a:off x="45720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ERVER step text 3"/>
          <p:cNvSpPr txBox="1"/>
          <p:nvPr/>
        </p:nvSpPr>
        <p:spPr>
          <a:xfrm>
            <a:off x="960120" y="28529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Attach to a port</a:t>
            </a:r>
            <a:endParaRPr lang="en-US" sz="1500" dirty="0"/>
          </a:p>
        </p:txBody>
      </p:sp>
      <p:sp>
        <p:nvSpPr>
          <p:cNvPr id="13" name="SERVER step circle 4"/>
          <p:cNvSpPr/>
          <p:nvPr/>
        </p:nvSpPr>
        <p:spPr>
          <a:xfrm>
            <a:off x="457200" y="35021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ERVER step number 4"/>
          <p:cNvSpPr txBox="1"/>
          <p:nvPr/>
        </p:nvSpPr>
        <p:spPr>
          <a:xfrm>
            <a:off x="4572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ERVER step text 4"/>
          <p:cNvSpPr txBox="1"/>
          <p:nvPr/>
        </p:nvSpPr>
        <p:spPr>
          <a:xfrm>
            <a:off x="960120" y="34564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Mark the socket as passive</a:t>
            </a:r>
            <a:endParaRPr lang="en-US" sz="1500" dirty="0"/>
          </a:p>
        </p:txBody>
      </p:sp>
      <p:sp>
        <p:nvSpPr>
          <p:cNvPr id="16" name="SERVER step circle 5"/>
          <p:cNvSpPr/>
          <p:nvPr/>
        </p:nvSpPr>
        <p:spPr>
          <a:xfrm>
            <a:off x="457200" y="41056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ERVER step number 5"/>
          <p:cNvSpPr txBox="1"/>
          <p:nvPr/>
        </p:nvSpPr>
        <p:spPr>
          <a:xfrm>
            <a:off x="45720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SERVER step text 5"/>
          <p:cNvSpPr txBox="1"/>
          <p:nvPr/>
        </p:nvSpPr>
        <p:spPr>
          <a:xfrm>
            <a:off x="960120" y="40599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Take a new client connection</a:t>
            </a:r>
            <a:endParaRPr lang="en-US" sz="1500" dirty="0"/>
          </a:p>
        </p:txBody>
      </p:sp>
      <p:sp>
        <p:nvSpPr>
          <p:cNvPr id="19" name="CLIENT header"/>
          <p:cNvSpPr txBox="1"/>
          <p:nvPr/>
        </p:nvSpPr>
        <p:spPr>
          <a:xfrm>
            <a:off x="4846320" y="1188720"/>
            <a:ext cx="1280160" cy="29260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</a:t>
            </a:r>
            <a:endParaRPr lang="en-US" sz="1400" dirty="0"/>
          </a:p>
        </p:txBody>
      </p:sp>
      <p:sp>
        <p:nvSpPr>
          <p:cNvPr id="20" name="CLIENT step circle 1"/>
          <p:cNvSpPr/>
          <p:nvPr/>
        </p:nvSpPr>
        <p:spPr>
          <a:xfrm>
            <a:off x="4846320" y="16916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CLIENT step number 1"/>
          <p:cNvSpPr txBox="1"/>
          <p:nvPr/>
        </p:nvSpPr>
        <p:spPr>
          <a:xfrm>
            <a:off x="48463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CLIENT step text 1"/>
          <p:cNvSpPr txBox="1"/>
          <p:nvPr/>
        </p:nvSpPr>
        <p:spPr>
          <a:xfrm>
            <a:off x="5349240" y="1645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Create a TCP socket</a:t>
            </a:r>
            <a:endParaRPr lang="en-US" sz="1500" dirty="0"/>
          </a:p>
        </p:txBody>
      </p:sp>
      <p:sp>
        <p:nvSpPr>
          <p:cNvPr id="23" name="CLIENT step circle 2"/>
          <p:cNvSpPr/>
          <p:nvPr/>
        </p:nvSpPr>
        <p:spPr>
          <a:xfrm>
            <a:off x="4846320" y="229514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CLIENT step number 2"/>
          <p:cNvSpPr txBox="1"/>
          <p:nvPr/>
        </p:nvSpPr>
        <p:spPr>
          <a:xfrm>
            <a:off x="48463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CLIENT step text 2"/>
          <p:cNvSpPr txBox="1"/>
          <p:nvPr/>
        </p:nvSpPr>
        <p:spPr>
          <a:xfrm>
            <a:off x="5349240" y="22494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Reach the server's IP and port</a:t>
            </a:r>
            <a:endParaRPr lang="en-US" sz="1500" dirty="0"/>
          </a:p>
        </p:txBody>
      </p:sp>
      <p:sp>
        <p:nvSpPr>
          <p:cNvPr id="26" name="CLIENT step circle 3"/>
          <p:cNvSpPr/>
          <p:nvPr/>
        </p:nvSpPr>
        <p:spPr>
          <a:xfrm>
            <a:off x="4846320" y="289864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CLIENT step number 3"/>
          <p:cNvSpPr txBox="1"/>
          <p:nvPr/>
        </p:nvSpPr>
        <p:spPr>
          <a:xfrm>
            <a:off x="484632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CLIENT step text 3"/>
          <p:cNvSpPr txBox="1"/>
          <p:nvPr/>
        </p:nvSpPr>
        <p:spPr>
          <a:xfrm>
            <a:off x="5349240" y="28529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send() / recv()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Exchange chat lines</a:t>
            </a:r>
            <a:endParaRPr lang="en-US" sz="1500" dirty="0"/>
          </a:p>
        </p:txBody>
      </p:sp>
      <p:sp>
        <p:nvSpPr>
          <p:cNvPr id="29" name="CLIENT step circle 4"/>
          <p:cNvSpPr/>
          <p:nvPr/>
        </p:nvSpPr>
        <p:spPr>
          <a:xfrm>
            <a:off x="4846320" y="35021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CLIENT step number 4"/>
          <p:cNvSpPr txBox="1"/>
          <p:nvPr/>
        </p:nvSpPr>
        <p:spPr>
          <a:xfrm>
            <a:off x="484632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CLIENT step text 4"/>
          <p:cNvSpPr txBox="1"/>
          <p:nvPr/>
        </p:nvSpPr>
        <p:spPr>
          <a:xfrm>
            <a:off x="5349240" y="34564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Leave the chat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Handling many clients</a:t>
            </a:r>
            <a:endParaRPr lang="en-US" sz="3600" dirty="0"/>
          </a:p>
        </p:txBody>
      </p:sp>
      <p:sp>
        <p:nvSpPr>
          <p:cNvPr id="3" name="Threads card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vent loop card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hreads circle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Threads icon" descr="Threa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7" name="Event loop circle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Event loop icon" descr="Event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691640"/>
            <a:ext cx="274320" cy="274320"/>
          </a:xfrm>
          <a:prstGeom prst="rect">
            <a:avLst/>
          </a:prstGeom>
        </p:spPr>
      </p:pic>
      <p:sp>
        <p:nvSpPr>
          <p:cNvPr id="9" name="Threads heading"/>
          <p:cNvSpPr txBox="1"/>
          <p:nvPr/>
        </p:nvSpPr>
        <p:spPr>
          <a:xfrm>
            <a:off x="146304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Thread per client</a:t>
            </a:r>
            <a:endParaRPr lang="en-US" sz="2000" dirty="0"/>
          </a:p>
        </p:txBody>
      </p:sp>
      <p:sp>
        <p:nvSpPr>
          <p:cNvPr id="10" name="Event loop heading"/>
          <p:cNvSpPr txBox="1"/>
          <p:nvPr/>
        </p:nvSpPr>
        <p:spPr>
          <a:xfrm>
            <a:off x="576072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Event loop (our choice)</a:t>
            </a:r>
            <a:endParaRPr lang="en-US" sz="2000" dirty="0"/>
          </a:p>
        </p:txBody>
      </p:sp>
      <p:sp>
        <p:nvSpPr>
          <p:cNvPr id="11" name="Threads bullets"/>
          <p:cNvSpPr txBox="1"/>
          <p:nvPr/>
        </p:nvSpPr>
        <p:spPr>
          <a:xfrm>
            <a:off x="731520" y="23774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Simple blocking code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Shared client list needs locks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Memory and context-switch cost grows with clients</a:t>
            </a:r>
            <a:endParaRPr lang="en-US" sz="1400" dirty="0"/>
          </a:p>
        </p:txBody>
      </p:sp>
      <p:sp>
        <p:nvSpPr>
          <p:cNvPr id="12" name="Event loop bullets"/>
          <p:cNvSpPr txBox="1"/>
          <p:nvPr/>
        </p:nvSpPr>
        <p:spPr>
          <a:xfrm>
            <a:off x="5029200" y="23774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thread watches many sockets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locks on shared state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Scales further with epoll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select vs poll vs epoll</a:t>
            </a:r>
            <a:endParaRPr lang="en-US" sz="36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01168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select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poll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epoll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222B"/>
                          </a:solidFill>
                        </a:rPr>
                        <a:t>FD limit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FD_SETSIZE (1024)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222B"/>
                          </a:solidFill>
                        </a:rPr>
                        <a:t>Cost per wait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O(n) scan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O(n) scan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O(ready fds)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222B"/>
                          </a:solidFill>
                        </a:rPr>
                        <a:t>Portability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POSIX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POSIX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Linux only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222B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Learning, small rooms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Moderate clients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22B"/>
                          </a:solidFill>
                        </a:rPr>
                        <a:t>Many clients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0EC"/>
                    </a:solidFill>
                  </a:tcPr>
                </a:tc>
              </a:tr>
            </a:tbl>
          </a:graphicData>
        </a:graphic>
      </p:graphicFrame>
      <p:sp>
        <p:nvSpPr>
          <p:cNvPr id="4" name="Plan note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Plan: build on select() first, then swap in epoll.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event loop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457200" y="1280160"/>
            <a:ext cx="5029200" cy="2651760"/>
          </a:xfrm>
          <a:prstGeom prst="roundRect">
            <a:avLst>
              <a:gd name="adj" fmla="val 34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 label"/>
          <p:cNvSpPr txBox="1"/>
          <p:nvPr/>
        </p:nvSpPr>
        <p:spPr>
          <a:xfrm>
            <a:off x="6858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server.c (simplified)</a:t>
            </a:r>
            <a:endParaRPr lang="en-US" sz="1200" dirty="0"/>
          </a:p>
        </p:txBody>
      </p:sp>
      <p:sp>
        <p:nvSpPr>
          <p:cNvPr id="5" name="Code"/>
          <p:cNvSpPr txBox="1"/>
          <p:nvPr/>
        </p:nvSpPr>
        <p:spPr>
          <a:xfrm>
            <a:off x="685800" y="18288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(;;)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fd_set rd = master;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select(maxfd + 1, &amp;rd, NULL, NULL, NULL);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fd = 0; fd &lt;= maxfd; fd++)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(!FD_ISSET(fd, &amp;rd)) continue;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(fd == listener) accept_client();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handle_message(fd);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Callout 1"/>
          <p:cNvSpPr/>
          <p:nvPr/>
        </p:nvSpPr>
        <p:spPr>
          <a:xfrm>
            <a:off x="5760720" y="1280160"/>
            <a:ext cx="29260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llout text 1"/>
          <p:cNvSpPr txBox="1"/>
          <p:nvPr/>
        </p:nvSpPr>
        <p:spPr>
          <a:xfrm>
            <a:off x="5943600" y="12801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Copy the master set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select() overwrites its fd_set, so reset it each pass.</a:t>
            </a:r>
            <a:endParaRPr lang="en-US" sz="1600" dirty="0"/>
          </a:p>
        </p:txBody>
      </p:sp>
      <p:sp>
        <p:nvSpPr>
          <p:cNvPr id="8" name="Callout 2"/>
          <p:cNvSpPr/>
          <p:nvPr/>
        </p:nvSpPr>
        <p:spPr>
          <a:xfrm>
            <a:off x="5760720" y="2377440"/>
            <a:ext cx="29260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llout text 2"/>
          <p:cNvSpPr txBox="1"/>
          <p:nvPr/>
        </p:nvSpPr>
        <p:spPr>
          <a:xfrm>
            <a:off x="5943600" y="23774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Listener ready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ready listening fd means a new client: accept().</a:t>
            </a:r>
            <a:endParaRPr lang="en-US" sz="1600" dirty="0"/>
          </a:p>
        </p:txBody>
      </p:sp>
      <p:sp>
        <p:nvSpPr>
          <p:cNvPr id="10" name="Callout 3"/>
          <p:cNvSpPr/>
          <p:nvPr/>
        </p:nvSpPr>
        <p:spPr>
          <a:xfrm>
            <a:off x="5760720" y="3474720"/>
            <a:ext cx="29260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llout text 3"/>
          <p:cNvSpPr txBox="1"/>
          <p:nvPr/>
        </p:nvSpPr>
        <p:spPr>
          <a:xfrm>
            <a:off x="5943600" y="3474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recv() returns 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Peer closed: close the fd and announce the leave.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Usernames and broadcast</a:t>
            </a:r>
            <a:endParaRPr lang="en-US" sz="3600" dirty="0"/>
          </a:p>
        </p:txBody>
      </p:sp>
      <p:sp>
        <p:nvSpPr>
          <p:cNvPr id="3" name="Flow box 1"/>
          <p:cNvSpPr/>
          <p:nvPr/>
        </p:nvSpPr>
        <p:spPr>
          <a:xfrm>
            <a:off x="45720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ow text 1"/>
          <p:cNvSpPr txBox="1"/>
          <p:nvPr/>
        </p:nvSpPr>
        <p:spPr>
          <a:xfrm>
            <a:off x="45720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Connect</a:t>
            </a:r>
            <a:endParaRPr lang="en-US" sz="1400" dirty="0"/>
          </a:p>
        </p:txBody>
      </p:sp>
      <p:sp>
        <p:nvSpPr>
          <p:cNvPr id="5" name="Flow arrow 1"/>
          <p:cNvSpPr/>
          <p:nvPr/>
        </p:nvSpPr>
        <p:spPr>
          <a:xfrm>
            <a:off x="2322576" y="1645920"/>
            <a:ext cx="2286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Flow box 2"/>
          <p:cNvSpPr/>
          <p:nvPr/>
        </p:nvSpPr>
        <p:spPr>
          <a:xfrm>
            <a:off x="2587752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 text 2"/>
          <p:cNvSpPr txBox="1"/>
          <p:nvPr/>
        </p:nvSpPr>
        <p:spPr>
          <a:xfrm>
            <a:off x="2587752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Choose a name</a:t>
            </a:r>
            <a:endParaRPr lang="en-US" sz="1400" dirty="0"/>
          </a:p>
        </p:txBody>
      </p:sp>
      <p:sp>
        <p:nvSpPr>
          <p:cNvPr id="8" name="Flow arrow 2"/>
          <p:cNvSpPr/>
          <p:nvPr/>
        </p:nvSpPr>
        <p:spPr>
          <a:xfrm>
            <a:off x="4453128" y="1645920"/>
            <a:ext cx="2286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Flow box 3"/>
          <p:cNvSpPr/>
          <p:nvPr/>
        </p:nvSpPr>
        <p:spPr>
          <a:xfrm>
            <a:off x="4718304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 text 3"/>
          <p:cNvSpPr txBox="1"/>
          <p:nvPr/>
        </p:nvSpPr>
        <p:spPr>
          <a:xfrm>
            <a:off x="4718304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Send a line</a:t>
            </a:r>
            <a:endParaRPr lang="en-US" sz="1400" dirty="0"/>
          </a:p>
        </p:txBody>
      </p:sp>
      <p:sp>
        <p:nvSpPr>
          <p:cNvPr id="11" name="Flow arrow 3"/>
          <p:cNvSpPr/>
          <p:nvPr/>
        </p:nvSpPr>
        <p:spPr>
          <a:xfrm>
            <a:off x="6583680" y="1645920"/>
            <a:ext cx="2286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Flow box 4"/>
          <p:cNvSpPr/>
          <p:nvPr/>
        </p:nvSpPr>
        <p:spPr>
          <a:xfrm>
            <a:off x="6848856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Flow text 4"/>
          <p:cNvSpPr txBox="1"/>
          <p:nvPr/>
        </p:nvSpPr>
        <p:spPr>
          <a:xfrm>
            <a:off x="6848856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 Server broadcasts</a:t>
            </a:r>
            <a:endParaRPr lang="en-US" sz="1400" dirty="0"/>
          </a:p>
        </p:txBody>
      </p:sp>
      <p:sp>
        <p:nvSpPr>
          <p:cNvPr id="14" name="Session panel"/>
          <p:cNvSpPr/>
          <p:nvPr/>
        </p:nvSpPr>
        <p:spPr>
          <a:xfrm>
            <a:off x="457200" y="2377440"/>
            <a:ext cx="4206240" cy="2103120"/>
          </a:xfrm>
          <a:prstGeom prst="roundRect">
            <a:avLst>
              <a:gd name="adj" fmla="val 43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Session text"/>
          <p:cNvSpPr txBox="1"/>
          <p:nvPr/>
        </p:nvSpPr>
        <p:spPr>
          <a:xfrm>
            <a:off x="685800" y="25603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server&gt; Enter username: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alice joined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bob: hi alice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alice: hello bob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bob left</a:t>
            </a:r>
            <a:endParaRPr lang="en-US" sz="1200" dirty="0"/>
          </a:p>
        </p:txBody>
      </p:sp>
      <p:sp>
        <p:nvSpPr>
          <p:cNvPr id="16" name="Rules heading"/>
          <p:cNvSpPr txBox="1"/>
          <p:nvPr/>
        </p:nvSpPr>
        <p:spPr>
          <a:xfrm>
            <a:off x="493776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Protocol rules</a:t>
            </a:r>
            <a:endParaRPr lang="en-US" sz="2000" dirty="0"/>
          </a:p>
        </p:txBody>
      </p:sp>
      <p:sp>
        <p:nvSpPr>
          <p:cNvPr id="17" name="Rules bullets"/>
          <p:cNvSpPr txBox="1"/>
          <p:nvPr/>
        </p:nvSpPr>
        <p:spPr>
          <a:xfrm>
            <a:off x="4937760" y="2834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Each message ends with a newline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Reject empty or duplicate names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Broadcast to every fd except the sender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Announce joins and leaves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toolchain</a:t>
            </a:r>
            <a:endParaRPr lang="en-US" sz="3600" dirty="0"/>
          </a:p>
        </p:txBody>
      </p:sp>
      <p:sp>
        <p:nvSpPr>
          <p:cNvPr id="3" name="GCC card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CC circle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GCC icon" descr="GC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51660"/>
            <a:ext cx="320040" cy="320040"/>
          </a:xfrm>
          <a:prstGeom prst="rect">
            <a:avLst/>
          </a:prstGeom>
        </p:spPr>
      </p:pic>
      <p:sp>
        <p:nvSpPr>
          <p:cNvPr id="6" name="GCC text"/>
          <p:cNvSpPr txBox="1"/>
          <p:nvPr/>
        </p:nvSpPr>
        <p:spPr>
          <a:xfrm>
            <a:off x="1508760" y="1280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GCC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Compile with warnings on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-Wall -o chat server.c</a:t>
            </a:r>
            <a:endParaRPr lang="en-US" sz="1800" dirty="0"/>
          </a:p>
        </p:txBody>
      </p:sp>
      <p:sp>
        <p:nvSpPr>
          <p:cNvPr id="7" name="netcat card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etcat circle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netcat icon" descr="net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51660"/>
            <a:ext cx="320040" cy="320040"/>
          </a:xfrm>
          <a:prstGeom prst="rect">
            <a:avLst/>
          </a:prstGeom>
        </p:spPr>
      </p:pic>
      <p:sp>
        <p:nvSpPr>
          <p:cNvPr id="10" name="netcat text"/>
          <p:cNvSpPr txBox="1"/>
          <p:nvPr/>
        </p:nvSpPr>
        <p:spPr>
          <a:xfrm>
            <a:off x="5715000" y="1280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netcat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Quick throwaway clients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 localhost 5000</a:t>
            </a:r>
            <a:endParaRPr lang="en-US" sz="1800" dirty="0"/>
          </a:p>
        </p:txBody>
      </p:sp>
      <p:sp>
        <p:nvSpPr>
          <p:cNvPr id="11" name="Wireshark card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Wireshark circle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Wireshark icon" descr="Wiresh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497580"/>
            <a:ext cx="320040" cy="320040"/>
          </a:xfrm>
          <a:prstGeom prst="rect">
            <a:avLst/>
          </a:prstGeom>
        </p:spPr>
      </p:pic>
      <p:sp>
        <p:nvSpPr>
          <p:cNvPr id="14" name="Wireshark text"/>
          <p:cNvSpPr txBox="1"/>
          <p:nvPr/>
        </p:nvSpPr>
        <p:spPr>
          <a:xfrm>
            <a:off x="1508760" y="2926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Wireshark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Inspect packets on the wire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5000</a:t>
            </a:r>
            <a:endParaRPr lang="en-US" sz="1800" dirty="0"/>
          </a:p>
        </p:txBody>
      </p:sp>
      <p:sp>
        <p:nvSpPr>
          <p:cNvPr id="15" name="ss / netstat card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s / netstat circl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s / netstat icon" descr="ss / netst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18" name="ss / netstat text"/>
          <p:cNvSpPr txBox="1"/>
          <p:nvPr/>
        </p:nvSpPr>
        <p:spPr>
          <a:xfrm>
            <a:off x="5715000" y="2926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ss / netstat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Watch sockets and states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-tnp | grep 5000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Pitfalls to design for</a:t>
            </a:r>
            <a:endParaRPr lang="en-US" sz="3600" dirty="0"/>
          </a:p>
        </p:txBody>
      </p:sp>
      <p:sp>
        <p:nvSpPr>
          <p:cNvPr id="3" name="Partial reads circle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Partial reads icon" descr="Partial rea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497330"/>
            <a:ext cx="251460" cy="251460"/>
          </a:xfrm>
          <a:prstGeom prst="rect">
            <a:avLst/>
          </a:prstGeom>
        </p:spPr>
      </p:pic>
      <p:sp>
        <p:nvSpPr>
          <p:cNvPr id="5" name="Partial reads text"/>
          <p:cNvSpPr txBox="1"/>
          <p:nvPr/>
        </p:nvSpPr>
        <p:spPr>
          <a:xfrm>
            <a:off x="1188720" y="1280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Partial reads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Buffer bytes per client until a newline arrives.</a:t>
            </a:r>
            <a:endParaRPr lang="en-US" sz="1600" dirty="0"/>
          </a:p>
        </p:txBody>
      </p:sp>
      <p:sp>
        <p:nvSpPr>
          <p:cNvPr id="6" name="Disconnects circle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Disconnects icon" descr="Disconnec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320290"/>
            <a:ext cx="251460" cy="251460"/>
          </a:xfrm>
          <a:prstGeom prst="rect">
            <a:avLst/>
          </a:prstGeom>
        </p:spPr>
      </p:pic>
      <p:sp>
        <p:nvSpPr>
          <p:cNvPr id="8" name="Disconnects text"/>
          <p:cNvSpPr txBox="1"/>
          <p:nvPr/>
        </p:nvSpPr>
        <p:spPr>
          <a:xfrm>
            <a:off x="1188720" y="2103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Disconnects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recv() returning 0 means close and clean up.</a:t>
            </a:r>
            <a:endParaRPr lang="en-US" sz="1600" dirty="0"/>
          </a:p>
        </p:txBody>
      </p:sp>
      <p:sp>
        <p:nvSpPr>
          <p:cNvPr id="9" name="Broken pipes circle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Broken pipes icon" descr="Broken pip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143250"/>
            <a:ext cx="251460" cy="251460"/>
          </a:xfrm>
          <a:prstGeom prst="rect">
            <a:avLst/>
          </a:prstGeom>
        </p:spPr>
      </p:pic>
      <p:sp>
        <p:nvSpPr>
          <p:cNvPr id="11" name="Broken pipes text"/>
          <p:cNvSpPr txBox="1"/>
          <p:nvPr/>
        </p:nvSpPr>
        <p:spPr>
          <a:xfrm>
            <a:off x="1188720" y="2926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Broken pipes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 MSG_NOSIGNAL so send() cannot kill the server.</a:t>
            </a:r>
            <a:endParaRPr lang="en-US" sz="1600" dirty="0"/>
          </a:p>
        </p:txBody>
      </p:sp>
      <p:sp>
        <p:nvSpPr>
          <p:cNvPr id="12" name="Slow receivers circle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Slow receivers icon" descr="Slow receiv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966210"/>
            <a:ext cx="251460" cy="251460"/>
          </a:xfrm>
          <a:prstGeom prst="rect">
            <a:avLst/>
          </a:prstGeom>
        </p:spPr>
      </p:pic>
      <p:sp>
        <p:nvSpPr>
          <p:cNvPr id="14" name="Slow receivers text"/>
          <p:cNvSpPr txBox="1"/>
          <p:nvPr/>
        </p:nvSpPr>
        <p:spPr>
          <a:xfrm>
            <a:off x="1188720" y="3749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Slow receivers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full buffer means a partial send(); queue the rest.</a:t>
            </a:r>
            <a:endParaRPr lang="en-US" sz="1600" dirty="0"/>
          </a:p>
        </p:txBody>
      </p:sp>
      <p:sp>
        <p:nvSpPr>
          <p:cNvPr id="15" name="Callout card"/>
          <p:cNvSpPr/>
          <p:nvPr/>
        </p:nvSpPr>
        <p:spPr>
          <a:xfrm>
            <a:off x="5943600" y="1280160"/>
            <a:ext cx="2743200" cy="32004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allout big"/>
          <p:cNvSpPr txBox="1"/>
          <p:nvPr/>
        </p:nvSpPr>
        <p:spPr>
          <a:xfrm>
            <a:off x="6172200" y="1508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TCP is a byte stream, not messages.</a:t>
            </a:r>
            <a:endParaRPr lang="en-US" sz="2400" dirty="0"/>
          </a:p>
        </p:txBody>
      </p:sp>
      <p:sp>
        <p:nvSpPr>
          <p:cNvPr id="17" name="Callout small"/>
          <p:cNvSpPr txBox="1"/>
          <p:nvPr/>
        </p:nvSpPr>
        <p:spPr>
          <a:xfrm>
            <a:off x="617220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send() can arrive as many recv() calls, and many sends as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Takeaways</a:t>
            </a:r>
            <a:endParaRPr lang="en-US" sz="3600" dirty="0"/>
          </a:p>
        </p:txBody>
      </p:sp>
      <p:sp>
        <p:nvSpPr>
          <p:cNvPr id="3" name="Takeaway circle 1"/>
          <p:cNvSpPr/>
          <p:nvPr/>
        </p:nvSpPr>
        <p:spPr>
          <a:xfrm>
            <a:off x="457200" y="138988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akeaway number 1"/>
          <p:cNvSpPr txBox="1"/>
          <p:nvPr/>
        </p:nvSpPr>
        <p:spPr>
          <a:xfrm>
            <a:off x="45720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akeaway text 1"/>
          <p:cNvSpPr txBox="1"/>
          <p:nvPr/>
        </p:nvSpPr>
        <p:spPr>
          <a:xfrm>
            <a:off x="1188720" y="1280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I/O multiplexing replaces threads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loop serves every client without locks.</a:t>
            </a:r>
            <a:endParaRPr lang="en-US" sz="1800" dirty="0"/>
          </a:p>
        </p:txBody>
      </p:sp>
      <p:sp>
        <p:nvSpPr>
          <p:cNvPr id="6" name="Takeaway circle 2"/>
          <p:cNvSpPr/>
          <p:nvPr/>
        </p:nvSpPr>
        <p:spPr>
          <a:xfrm>
            <a:off x="457200" y="24414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akeaway number 2"/>
          <p:cNvSpPr txBox="1"/>
          <p:nvPr/>
        </p:nvSpPr>
        <p:spPr>
          <a:xfrm>
            <a:off x="45720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akeaway text 2"/>
          <p:cNvSpPr txBox="1"/>
          <p:nvPr/>
        </p:nvSpPr>
        <p:spPr>
          <a:xfrm>
            <a:off x="1188720" y="2331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Framing is your job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Newline-delimited lines over a byte stream.</a:t>
            </a:r>
            <a:endParaRPr lang="en-US" sz="1800" dirty="0"/>
          </a:p>
        </p:txBody>
      </p:sp>
      <p:sp>
        <p:nvSpPr>
          <p:cNvPr id="9" name="Takeaway circle 3"/>
          <p:cNvSpPr/>
          <p:nvPr/>
        </p:nvSpPr>
        <p:spPr>
          <a:xfrm>
            <a:off x="457200" y="349300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akeaway number 3"/>
          <p:cNvSpPr txBox="1"/>
          <p:nvPr/>
        </p:nvSpPr>
        <p:spPr>
          <a:xfrm>
            <a:off x="45720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akeaway text 3"/>
          <p:cNvSpPr txBox="1"/>
          <p:nvPr/>
        </p:nvSpPr>
        <p:spPr>
          <a:xfrm>
            <a:off x="1188720" y="3383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Test with real tools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netcat clients, Wireshark packets, ss sockets.</a:t>
            </a:r>
            <a:endParaRPr lang="en-US" sz="1800" dirty="0"/>
          </a:p>
        </p:txBody>
      </p:sp>
      <p:sp>
        <p:nvSpPr>
          <p:cNvPr id="12" name="Next steps card"/>
          <p:cNvSpPr/>
          <p:nvPr/>
        </p:nvSpPr>
        <p:spPr>
          <a:xfrm>
            <a:off x="5760720" y="1280160"/>
            <a:ext cx="2926080" cy="310896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Next steps heading"/>
          <p:cNvSpPr txBox="1"/>
          <p:nvPr/>
        </p:nvSpPr>
        <p:spPr>
          <a:xfrm>
            <a:off x="598932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4" name="Next steps bullets"/>
          <p:cNvSpPr txBox="1"/>
          <p:nvPr/>
        </p:nvSpPr>
        <p:spPr>
          <a:xfrm>
            <a:off x="5989320" y="196596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Swap select() for epoll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Private messages with /msg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Chat rooms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Non-blocking sends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inal Teal">
  <a:themeElements>
    <a:clrScheme name="Terminal Teal">
      <a:dk1>
        <a:srgbClr val="10222B"/>
      </a:dk1>
      <a:lt1>
        <a:srgbClr val="FFFFFF"/>
      </a:lt1>
      <a:dk2>
        <a:srgbClr val="1B3A47"/>
      </a:dk2>
      <a:lt2>
        <a:srgbClr val="EAF3F1"/>
      </a:lt2>
      <a:accent1>
        <a:srgbClr val="0E8577"/>
      </a:accent1>
      <a:accent2>
        <a:srgbClr val="F2A33A"/>
      </a:accent2>
      <a:accent3>
        <a:srgbClr val="3B82A0"/>
      </a:accent3>
      <a:accent4>
        <a:srgbClr val="E5604D"/>
      </a:accent4>
      <a:accent5>
        <a:srgbClr val="5B6F77"/>
      </a:accent5>
      <a:accent6>
        <a:srgbClr val="8FD6C9"/>
      </a:accent6>
      <a:hlink>
        <a:srgbClr val="0E8577"/>
      </a:hlink>
      <a:folHlink>
        <a:srgbClr val="5B6F77"/>
      </a:folHlink>
    </a:clrScheme>
    <a:fontScheme name="Terminal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 Chat Server and Client</dc:title>
  <dc:subject>PptxGenJS Presentation</dc:subject>
  <dc:creator>PptxGenJS</dc:creator>
  <cp:lastModifiedBy>PptxGenJS</cp:lastModifiedBy>
  <cp:revision>1</cp:revision>
  <dcterms:created xsi:type="dcterms:W3CDTF">2026-10-06T07:52:08Z</dcterms:created>
  <dcterms:modified xsi:type="dcterms:W3CDTF">2026-10-06T07:52:08Z</dcterms:modified>
</cp:coreProperties>
</file>